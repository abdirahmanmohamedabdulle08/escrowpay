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7.png"/><Relationship Id="rId1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658022"/>
            <a:ext cx="952500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58072"/>
            <a:ext cx="2126456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106" y="5058072"/>
            <a:ext cx="2126456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5058072"/>
            <a:ext cx="2126456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768" y="5058072"/>
            <a:ext cx="2126456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55231" y="145930"/>
            <a:ext cx="4075543" cy="222244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7256" y="2342852"/>
            <a:ext cx="2757487" cy="29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699" y="2781002"/>
            <a:ext cx="4304600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0" i="0" u="none">
                <a:solidFill>
                  <a:srgbClr val="1E3A8A"/>
                </a:solidFill>
                <a:latin typeface="Plus Jakarta Sans ExtraBold"/>
              </a:rPr>
              <a:t>EscrowPay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7075" y="3416200"/>
            <a:ext cx="56578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10B981"/>
                </a:solidFill>
                <a:latin typeface="Inter"/>
              </a:rPr>
              <a:t>Next-Generation Secure Digital Escrow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901975"/>
            <a:ext cx="76200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A trust-building payment platform designed to protect Buyers, Merchants, and Delivery Partners through automated holding vaults and human admin dispute resolution.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8231" y="2428577"/>
            <a:ext cx="138112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00612" y="4810422"/>
            <a:ext cx="2390775" cy="1524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3A8A"/>
                </a:solidFill>
                <a:latin typeface="Inter ExtraBold"/>
              </a:rPr>
              <a:t>PROJECT DEVELOPMENT TEAM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612" y="4829472"/>
            <a:ext cx="1619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5248572"/>
            <a:ext cx="14287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1931" y="5248572"/>
            <a:ext cx="14287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3903" y="5248572"/>
            <a:ext cx="142875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60593" y="5248572"/>
            <a:ext cx="142875" cy="11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8875"/>
            <a:ext cx="3524250" cy="2781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28875"/>
            <a:ext cx="3524250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28875"/>
            <a:ext cx="3524250" cy="2781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24150"/>
            <a:ext cx="523875" cy="523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38525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Buyer Hesitation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7190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Buyers fear sending advance payments via mobile money to online sellers, risking financial loss from unfulfilled orders, fake items, or scams.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724150"/>
            <a:ext cx="523875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438525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Seller Vulnerability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771900"/>
            <a:ext cx="3028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Sellers fear shipping valuable items without advance payment, risking customer non-payment, false cancellations, or prolonged delay upon delivery.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24150"/>
            <a:ext cx="523875" cy="523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438525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Courier Disputes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7190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Delivery drivers get caught in the middle of payment disputes between buyers and sellers, suffering wasted fuel and unpaid delivery charges.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2871787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587" y="2871787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962" y="2871787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The E-Commerce Trust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619375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Secure Vault Deposit: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EscrowPay locks the buyer's funds in an encrypted digital vault until order fulfillment is confirmed.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267075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Tri-Party Protection: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Simultaneously safeguards Buyer payment, Seller merchandise value, and Courier delivery fees.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914775"/>
            <a:ext cx="50006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Human Admin Dispute Resolution: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Unlike rigid automated systems, disputes trigger immediate manual intervention by a trained **EscrowPay Admin** who reviews photo/video evidence to render fair decisions.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4811" y="1495425"/>
            <a:ext cx="1857375" cy="101284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318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0887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38587"/>
            <a:ext cx="2381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The EscrowPay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436018"/>
            <a:ext cx="5334000" cy="27670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03318" y="4245768"/>
            <a:ext cx="290036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Plus Jakarta Sans"/>
              </a:rPr>
              <a:t>Protected by EscrowPay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0450" y="4607718"/>
            <a:ext cx="3086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A7F3D0"/>
                </a:solidFill>
                <a:latin typeface="Inter"/>
              </a:rPr>
              <a:t>Verified Escrow &amp; Payment Guarantee Engine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86225"/>
            <a:ext cx="2541240" cy="11684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564308"/>
            <a:ext cx="2541240" cy="9885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86225"/>
            <a:ext cx="2541240" cy="116844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564308"/>
            <a:ext cx="2541240" cy="9885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004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988" y="4267200"/>
            <a:ext cx="234826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E3A8A"/>
                </a:solidFill>
                <a:latin typeface="Plus Jakarta Sans"/>
              </a:rPr>
              <a:t>1. Order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533900"/>
            <a:ext cx="223644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Buyer and Seller initiate order in app and assign the designated delivery provider.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908" y="2745283"/>
            <a:ext cx="234826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E3A8A"/>
                </a:solidFill>
                <a:latin typeface="Plus Jakarta Sans"/>
              </a:rPr>
              <a:t>2. Escrow Deposit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819" y="3011983"/>
            <a:ext cx="223644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Buyer deposits payment into the secure EscrowPay vault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28" y="4267200"/>
            <a:ext cx="234826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E3A8A"/>
                </a:solidFill>
                <a:latin typeface="Plus Jakarta Sans"/>
              </a:rPr>
              <a:t>3. Dispatch &amp;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39" y="4533900"/>
            <a:ext cx="223644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Courier collects goods from seller and executes trackable delivery to buyer.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5748" y="2745283"/>
            <a:ext cx="234826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E3A8A"/>
                </a:solidFill>
                <a:latin typeface="Plus Jakarta Sans"/>
              </a:rPr>
              <a:t>4. Payout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1659" y="3011983"/>
            <a:ext cx="223644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Buyer verifies item; Admin platform releases payouts to Seller &amp; Courier.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End-to-End Transaction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37345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3265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918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510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3244"/>
            <a:ext cx="5429250" cy="11010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623244"/>
            <a:ext cx="5429250" cy="11010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4775"/>
            <a:ext cx="5429250" cy="11010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914775"/>
            <a:ext cx="5429250" cy="11010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842319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842319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1338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1338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12" y="2975669"/>
            <a:ext cx="1428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47800" y="2842319"/>
            <a:ext cx="45205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Local Money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3118544"/>
            <a:ext cx="43053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87" b="0" i="0" u="none">
                <a:solidFill>
                  <a:srgbClr val="475569"/>
                </a:solidFill>
                <a:latin typeface="Inter"/>
              </a:rPr>
              <a:t>Native API connectivity for EVC Plus, Zaad, Sahal, and bank card transactions.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975669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7550" y="2842319"/>
            <a:ext cx="45205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Admin Dispute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7550" y="3118544"/>
            <a:ext cx="43053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87" b="0" i="0" u="none">
                <a:solidFill>
                  <a:srgbClr val="475569"/>
                </a:solidFill>
                <a:latin typeface="Inter"/>
              </a:rPr>
              <a:t>Dedicated back-office dashboard for live human resolution of contested deliveries.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" y="4267200"/>
            <a:ext cx="17145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7800" y="4133850"/>
            <a:ext cx="45205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Real-Time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4410075"/>
            <a:ext cx="43053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87" b="0" i="0" u="none">
                <a:solidFill>
                  <a:srgbClr val="475569"/>
                </a:solidFill>
                <a:latin typeface="Inter"/>
              </a:rPr>
              <a:t>Instant SMS and push alerts sent to Buyer, Seller, and Courier at every milestone.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8437" y="4267200"/>
            <a:ext cx="23812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67550" y="4133850"/>
            <a:ext cx="452056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Merchant SDK &amp;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4410075"/>
            <a:ext cx="43053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87" b="0" i="0" u="none">
                <a:solidFill>
                  <a:srgbClr val="475569"/>
                </a:solidFill>
                <a:latin typeface="Inter"/>
              </a:rPr>
              <a:t>Easy integration plugins for e-commerce websites and social commerce vendors.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Key Platform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2921"/>
            <a:ext cx="5405437" cy="2057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422921"/>
            <a:ext cx="5405437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838700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1575" y="4832746"/>
            <a:ext cx="957262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1162" b="0" i="0" u="none">
                <a:solidFill>
                  <a:srgbClr val="065F46"/>
                </a:solidFill>
                <a:latin typeface="Inter SemiBold"/>
              </a:rPr>
              <a:t>Monetization Note: Zero monthly subscription fees. Admin platform revenue is purely derived from successful, completed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5093" y="2832496"/>
            <a:ext cx="1238250" cy="1238250"/>
          </a:xfrm>
          <a:prstGeom prst="roundRect">
            <a:avLst>
              <a:gd name="adj" fmla="val 3846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250" y="3765946"/>
            <a:ext cx="483393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E2E8F0"/>
                </a:solidFill>
                <a:latin typeface="Inter"/>
              </a:rPr>
              <a:t>A flat 10% commission is deducted from successful merchant sales upon order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8656" y="2832496"/>
            <a:ext cx="1238250" cy="1238250"/>
          </a:xfrm>
          <a:prstGeom prst="roundRect">
            <a:avLst>
              <a:gd name="adj" fmla="val 3846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337" y="3756421"/>
            <a:ext cx="48148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E2E8F0"/>
                </a:solidFill>
                <a:latin typeface="Inter"/>
              </a:rPr>
              <a:t>A minimal 0.2% fee is deducted from the delivery fee earned by the courier on successful fulfillment.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708671"/>
            <a:ext cx="507563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3C5FD"/>
                </a:solidFill>
                <a:latin typeface="Plus Jakarta Sans"/>
              </a:rPr>
              <a:t>MERCHANT FEE (SELLER)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022996"/>
            <a:ext cx="483393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0" i="0" u="none">
                <a:solidFill>
                  <a:srgbClr val="10B981"/>
                </a:solidFill>
                <a:latin typeface="Plus Jakarta Sans ExtraBold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337" y="2718196"/>
            <a:ext cx="505563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EE7B7"/>
                </a:solidFill>
                <a:latin typeface="Plus Jakarta Sans"/>
              </a:rPr>
              <a:t>COURIER FEE (DELIVERY)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337" y="3032521"/>
            <a:ext cx="48148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0" i="0" u="none">
                <a:solidFill>
                  <a:srgbClr val="34D399"/>
                </a:solidFill>
                <a:latin typeface="Plus Jakarta Sans ExtraBold"/>
              </a:rPr>
              <a:t>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Business Model &amp; Monetization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Market Opportunity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881461"/>
            <a:ext cx="555069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Unlocking Social Commerce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14836"/>
            <a:ext cx="528637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37" b="0" i="0" u="none">
                <a:solidFill>
                  <a:srgbClr val="475569"/>
                </a:solidFill>
                <a:latin typeface="Inter"/>
              </a:rPr>
              <a:t>Social media storefronts on Facebook, TikTok, and Instagram are growing exponentially, but lack built-in consumer trust 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60452"/>
            <a:ext cx="5286375" cy="754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37" b="0" i="0" u="none">
                <a:solidFill>
                  <a:srgbClr val="475569"/>
                </a:solidFill>
                <a:latin typeface="Inter"/>
              </a:rPr>
              <a:t>EscrowPay bridges this critical gap by serving as the default trust infrastructure, unlocking millions in held transactions while auto-generating steady commission revenues for the platform.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537" y="3590925"/>
            <a:ext cx="6638925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552950"/>
            <a:ext cx="8572500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025" y="4953000"/>
            <a:ext cx="1888331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231" y="4953000"/>
            <a:ext cx="1888331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437" y="4953000"/>
            <a:ext cx="1888331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8643" y="4953000"/>
            <a:ext cx="1888331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54976" y="479361"/>
            <a:ext cx="3082045" cy="16806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5638" y="2257425"/>
            <a:ext cx="5780722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E3A8A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0487" y="3019425"/>
            <a:ext cx="43910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10B981"/>
                </a:solidFill>
                <a:latin typeface="Inter"/>
              </a:rPr>
              <a:t>EscrowPay - Building Trust in Digital 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4705350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3A8A"/>
                </a:solidFill>
                <a:latin typeface="Inter ExtraBold"/>
              </a:rPr>
              <a:t>PRESENTED BY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9437" y="3829050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67087" y="3810000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Inter SemiBold"/>
              </a:rPr>
              <a:t>www.escrowpay.so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3962" y="3829050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81612" y="3810000"/>
            <a:ext cx="1457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Inter SemiBold"/>
              </a:rPr>
              <a:t>info@escrowpay.so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7062" y="3829050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4712" y="3810000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Inter SemiBold"/>
              </a:rPr>
              <a:t>Secure Escrow Payments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5143500"/>
            <a:ext cx="104775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0056" y="5143500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8190" y="5143500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6046" y="5143500"/>
            <a:ext cx="104775" cy="11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44E336-A787-2B09-C7F5-8EF7B228D5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gradFill flip="none" rotWithShape="1">
            <a:gsLst>
              <a:gs pos="0">
                <a:srgbClr val="F4F8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D643FD-84B8-37DF-4A9C-E0F8E1DB1561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7649C-D45D-97E8-C5D5-FAD54AFC2A91}"/>
              </a:ext>
            </a:extLst>
          </p:cNvPr>
          <p:cNvSpPr txBox="1"/>
          <p:nvPr/>
        </p:nvSpPr>
        <p:spPr>
          <a:xfrm>
            <a:off x="609600" y="190500"/>
            <a:ext cx="1079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 Display" panose="020B0004020202020204" pitchFamily="34" charset="0"/>
              </a:rPr>
              <a:t>ESCROWPAY | AI-POWERED ESCROW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C8280-69FD-78D3-80A9-BA9F1ABE5882}"/>
              </a:ext>
            </a:extLst>
          </p:cNvPr>
          <p:cNvSpPr txBox="1"/>
          <p:nvPr/>
        </p:nvSpPr>
        <p:spPr>
          <a:xfrm>
            <a:off x="698500" y="1041400"/>
            <a:ext cx="7620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AI IMPLEMENTATION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5B6EB-C20E-8DFD-E931-D23B631E003D}"/>
              </a:ext>
            </a:extLst>
          </p:cNvPr>
          <p:cNvSpPr txBox="1"/>
          <p:nvPr/>
        </p:nvSpPr>
        <p:spPr>
          <a:xfrm>
            <a:off x="698500" y="1422400"/>
            <a:ext cx="13462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800" b="1">
                <a:solidFill>
                  <a:srgbClr val="172644"/>
                </a:solidFill>
                <a:latin typeface="Aptos Display" panose="020B0004020202020204" pitchFamily="34" charset="0"/>
              </a:rPr>
              <a:t>5 AI phases are complete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AFE47-6AAF-9760-3481-A9487D185C0D}"/>
              </a:ext>
            </a:extLst>
          </p:cNvPr>
          <p:cNvSpPr txBox="1"/>
          <p:nvPr/>
        </p:nvSpPr>
        <p:spPr>
          <a:xfrm>
            <a:off x="698500" y="2133600"/>
            <a:ext cx="1320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>
                <a:solidFill>
                  <a:srgbClr val="687CA0"/>
                </a:solidFill>
                <a:latin typeface="Aptos Display" panose="020B0004020202020204" pitchFamily="34" charset="0"/>
              </a:rPr>
              <a:t>EscrowPay now uses AI for listing, disputes, shopping, safety, and logistics.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C5397D-8974-8B4A-F766-505491B423AB}"/>
              </a:ext>
            </a:extLst>
          </p:cNvPr>
          <p:cNvSpPr/>
          <p:nvPr/>
        </p:nvSpPr>
        <p:spPr>
          <a:xfrm>
            <a:off x="698500" y="2984500"/>
            <a:ext cx="3810000" cy="1968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872C3-F3D1-C777-396B-5757FF6B35D5}"/>
              </a:ext>
            </a:extLst>
          </p:cNvPr>
          <p:cNvSpPr txBox="1"/>
          <p:nvPr/>
        </p:nvSpPr>
        <p:spPr>
          <a:xfrm>
            <a:off x="952500" y="3213100"/>
            <a:ext cx="5715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2C58C2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94FE7-EA12-23C4-00AE-EF9F3E36636A}"/>
              </a:ext>
            </a:extLst>
          </p:cNvPr>
          <p:cNvSpPr txBox="1"/>
          <p:nvPr/>
        </p:nvSpPr>
        <p:spPr>
          <a:xfrm>
            <a:off x="952500" y="3594100"/>
            <a:ext cx="31750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500" b="1">
                <a:solidFill>
                  <a:srgbClr val="172644"/>
                </a:solidFill>
                <a:latin typeface="Aptos Display" panose="020B0004020202020204" pitchFamily="34" charset="0"/>
              </a:rPr>
              <a:t>Magic Product Lister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E7E77-0FC7-645F-3E37-091BA2ABEDA0}"/>
              </a:ext>
            </a:extLst>
          </p:cNvPr>
          <p:cNvSpPr txBox="1"/>
          <p:nvPr/>
        </p:nvSpPr>
        <p:spPr>
          <a:xfrm>
            <a:off x="952500" y="4038600"/>
            <a:ext cx="317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>
                <a:solidFill>
                  <a:srgbClr val="687CA0"/>
                </a:solidFill>
                <a:latin typeface="Aptos Display" panose="020B0004020202020204" pitchFamily="34" charset="0"/>
              </a:rPr>
              <a:t>Photo to Somali title, category, price, and description.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D09859-1D8B-4B45-A84B-2D3091669262}"/>
              </a:ext>
            </a:extLst>
          </p:cNvPr>
          <p:cNvSpPr/>
          <p:nvPr/>
        </p:nvSpPr>
        <p:spPr>
          <a:xfrm>
            <a:off x="4889500" y="2984500"/>
            <a:ext cx="3810000" cy="1968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55D03-8DFA-1E16-F38B-5B8C13684471}"/>
              </a:ext>
            </a:extLst>
          </p:cNvPr>
          <p:cNvSpPr txBox="1"/>
          <p:nvPr/>
        </p:nvSpPr>
        <p:spPr>
          <a:xfrm>
            <a:off x="5143500" y="3213100"/>
            <a:ext cx="5715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2C58C2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E8165-3E2A-7E82-FF56-D4F317DA7ACF}"/>
              </a:ext>
            </a:extLst>
          </p:cNvPr>
          <p:cNvSpPr txBox="1"/>
          <p:nvPr/>
        </p:nvSpPr>
        <p:spPr>
          <a:xfrm>
            <a:off x="5143500" y="3594100"/>
            <a:ext cx="31750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500" b="1">
                <a:solidFill>
                  <a:srgbClr val="172644"/>
                </a:solidFill>
                <a:latin typeface="Aptos Display" panose="020B0004020202020204" pitchFamily="34" charset="0"/>
              </a:rPr>
              <a:t>Dispute Investigator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19E74-9707-4692-C3E3-0E3463E9523C}"/>
              </a:ext>
            </a:extLst>
          </p:cNvPr>
          <p:cNvSpPr txBox="1"/>
          <p:nvPr/>
        </p:nvSpPr>
        <p:spPr>
          <a:xfrm>
            <a:off x="5143500" y="4038600"/>
            <a:ext cx="317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>
                <a:solidFill>
                  <a:srgbClr val="687CA0"/>
                </a:solidFill>
                <a:latin typeface="Aptos Display" panose="020B0004020202020204" pitchFamily="34" charset="0"/>
              </a:rPr>
              <a:t>Evidence, images, AI verdict, and risk score.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49F567-2B9A-E0E9-AC7E-3BD97BBD098B}"/>
              </a:ext>
            </a:extLst>
          </p:cNvPr>
          <p:cNvSpPr/>
          <p:nvPr/>
        </p:nvSpPr>
        <p:spPr>
          <a:xfrm>
            <a:off x="9080500" y="2984500"/>
            <a:ext cx="3810000" cy="1968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DAD5BD-7560-D98E-683F-CFD44644A4ED}"/>
              </a:ext>
            </a:extLst>
          </p:cNvPr>
          <p:cNvSpPr txBox="1"/>
          <p:nvPr/>
        </p:nvSpPr>
        <p:spPr>
          <a:xfrm>
            <a:off x="9334500" y="3213100"/>
            <a:ext cx="5715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2C58C2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E40D4-A615-529F-C690-FA2C6F6D708D}"/>
              </a:ext>
            </a:extLst>
          </p:cNvPr>
          <p:cNvSpPr txBox="1"/>
          <p:nvPr/>
        </p:nvSpPr>
        <p:spPr>
          <a:xfrm>
            <a:off x="9334500" y="3594100"/>
            <a:ext cx="31750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500" b="1">
                <a:solidFill>
                  <a:srgbClr val="172644"/>
                </a:solidFill>
                <a:latin typeface="Aptos Display" panose="020B0004020202020204" pitchFamily="34" charset="0"/>
              </a:rPr>
              <a:t>Voice Shopping Assistant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ED57F-59CF-E6D3-7F2F-9E12E20D9EE7}"/>
              </a:ext>
            </a:extLst>
          </p:cNvPr>
          <p:cNvSpPr txBox="1"/>
          <p:nvPr/>
        </p:nvSpPr>
        <p:spPr>
          <a:xfrm>
            <a:off x="9334500" y="4038600"/>
            <a:ext cx="317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>
                <a:solidFill>
                  <a:srgbClr val="687CA0"/>
                </a:solidFill>
                <a:latin typeface="Aptos Display" panose="020B0004020202020204" pitchFamily="34" charset="0"/>
              </a:rPr>
              <a:t>Somali voice or text to relevant marketplace results.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354757-1176-71CF-C01B-53543AA57769}"/>
              </a:ext>
            </a:extLst>
          </p:cNvPr>
          <p:cNvSpPr/>
          <p:nvPr/>
        </p:nvSpPr>
        <p:spPr>
          <a:xfrm>
            <a:off x="698500" y="5461000"/>
            <a:ext cx="3810000" cy="1968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13C13E-0271-C5BB-7382-0520E4CC0E42}"/>
              </a:ext>
            </a:extLst>
          </p:cNvPr>
          <p:cNvSpPr txBox="1"/>
          <p:nvPr/>
        </p:nvSpPr>
        <p:spPr>
          <a:xfrm>
            <a:off x="952500" y="5689600"/>
            <a:ext cx="5715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2C58C2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360D62-1674-0554-8C77-95E0E3B88A08}"/>
              </a:ext>
            </a:extLst>
          </p:cNvPr>
          <p:cNvSpPr txBox="1"/>
          <p:nvPr/>
        </p:nvSpPr>
        <p:spPr>
          <a:xfrm>
            <a:off x="952500" y="6070600"/>
            <a:ext cx="31750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500" b="1">
                <a:solidFill>
                  <a:srgbClr val="172644"/>
                </a:solidFill>
                <a:latin typeface="Aptos Display" panose="020B0004020202020204" pitchFamily="34" charset="0"/>
              </a:rPr>
              <a:t>Real-time Scam Shield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47852A-40C2-C0E2-7985-9BA7386AA5A1}"/>
              </a:ext>
            </a:extLst>
          </p:cNvPr>
          <p:cNvSpPr txBox="1"/>
          <p:nvPr/>
        </p:nvSpPr>
        <p:spPr>
          <a:xfrm>
            <a:off x="952500" y="6515100"/>
            <a:ext cx="3175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>
                <a:solidFill>
                  <a:srgbClr val="687CA0"/>
                </a:solidFill>
                <a:latin typeface="Aptos Display" panose="020B0004020202020204" pitchFamily="34" charset="0"/>
              </a:rPr>
              <a:t>Blocks phone, links, and off-escrow payment attempts.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B4B33D-D8B8-F4CE-226E-D2D45C5C82DC}"/>
              </a:ext>
            </a:extLst>
          </p:cNvPr>
          <p:cNvSpPr/>
          <p:nvPr/>
        </p:nvSpPr>
        <p:spPr>
          <a:xfrm>
            <a:off x="4889500" y="5461000"/>
            <a:ext cx="3810000" cy="1968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6A1A5-858C-4B90-2280-661CDEA809BE}"/>
              </a:ext>
            </a:extLst>
          </p:cNvPr>
          <p:cNvSpPr txBox="1"/>
          <p:nvPr/>
        </p:nvSpPr>
        <p:spPr>
          <a:xfrm>
            <a:off x="5143500" y="5689600"/>
            <a:ext cx="5715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2C58C2"/>
                </a:solidFill>
                <a:latin typeface="Aptos Display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3D4E09-7689-C3AC-7E14-07DBDA645E59}"/>
              </a:ext>
            </a:extLst>
          </p:cNvPr>
          <p:cNvSpPr txBox="1"/>
          <p:nvPr/>
        </p:nvSpPr>
        <p:spPr>
          <a:xfrm>
            <a:off x="5143500" y="6070600"/>
            <a:ext cx="31750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500" b="1">
                <a:solidFill>
                  <a:srgbClr val="172644"/>
                </a:solidFill>
                <a:latin typeface="Aptos Display" panose="020B0004020202020204" pitchFamily="34" charset="0"/>
              </a:rPr>
              <a:t>Smart Delivery Matching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B1A510-A011-3B3B-10D6-2C7CCF877128}"/>
              </a:ext>
            </a:extLst>
          </p:cNvPr>
          <p:cNvSpPr txBox="1"/>
          <p:nvPr/>
        </p:nvSpPr>
        <p:spPr>
          <a:xfrm>
            <a:off x="5143500" y="6515100"/>
            <a:ext cx="317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>
                <a:solidFill>
                  <a:srgbClr val="687CA0"/>
                </a:solidFill>
                <a:latin typeface="Aptos Display" panose="020B0004020202020204" pitchFamily="34" charset="0"/>
              </a:rPr>
              <a:t>GPS, availability, trust, and best driver selection.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6B60E-D3D1-A0D6-1F95-5FA5CB4CDEC1}"/>
              </a:ext>
            </a:extLst>
          </p:cNvPr>
          <p:cNvSpPr txBox="1"/>
          <p:nvPr/>
        </p:nvSpPr>
        <p:spPr>
          <a:xfrm>
            <a:off x="698500" y="64770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>
                <a:solidFill>
                  <a:srgbClr val="687CA0"/>
                </a:solidFill>
                <a:latin typeface="Aptos Display" panose="020B0004020202020204" pitchFamily="34" charset="0"/>
              </a:rPr>
              <a:t>EscrowPay | Secure. Smart. Somali.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9237EA-8EC8-7044-E1A0-86D84CA422F4}"/>
              </a:ext>
            </a:extLst>
          </p:cNvPr>
          <p:cNvSpPr txBox="1"/>
          <p:nvPr/>
        </p:nvSpPr>
        <p:spPr>
          <a:xfrm>
            <a:off x="11176000" y="6477000"/>
            <a:ext cx="381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 b="1">
                <a:solidFill>
                  <a:srgbClr val="687CA0"/>
                </a:solidFill>
                <a:latin typeface="Aptos Display" panose="020B0004020202020204" pitchFamily="34" charset="0"/>
              </a:rPr>
              <a:t>07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591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051A62-E176-AF62-2817-259523824E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3AED5C-35F5-0FBE-F9EC-057ABE6283FE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E0E0D-2B42-E231-7977-7BCE6AC527B7}"/>
              </a:ext>
            </a:extLst>
          </p:cNvPr>
          <p:cNvSpPr txBox="1"/>
          <p:nvPr/>
        </p:nvSpPr>
        <p:spPr>
          <a:xfrm>
            <a:off x="609600" y="190500"/>
            <a:ext cx="1079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 Display" panose="020B0004020202020204" pitchFamily="34" charset="0"/>
              </a:rPr>
              <a:t>ESCROWPAY | AI-POWERED ESCROW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EE2BB-D2F9-1ABE-7D4B-0B7BC467EFB6}"/>
              </a:ext>
            </a:extLst>
          </p:cNvPr>
          <p:cNvSpPr txBox="1"/>
          <p:nvPr/>
        </p:nvSpPr>
        <p:spPr>
          <a:xfrm>
            <a:off x="698500" y="1041400"/>
            <a:ext cx="7620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PHASE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C9147-DA81-9684-A035-B64C5DD999C1}"/>
              </a:ext>
            </a:extLst>
          </p:cNvPr>
          <p:cNvSpPr txBox="1"/>
          <p:nvPr/>
        </p:nvSpPr>
        <p:spPr>
          <a:xfrm>
            <a:off x="698500" y="1422400"/>
            <a:ext cx="13462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800" b="1">
                <a:solidFill>
                  <a:srgbClr val="172644"/>
                </a:solidFill>
                <a:latin typeface="Aptos Display" panose="020B0004020202020204" pitchFamily="34" charset="0"/>
              </a:rPr>
              <a:t>AI Scam Shield: safe messaging by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8FACE-8CFF-C49F-97A8-7C0B74C6225B}"/>
              </a:ext>
            </a:extLst>
          </p:cNvPr>
          <p:cNvSpPr txBox="1"/>
          <p:nvPr/>
        </p:nvSpPr>
        <p:spPr>
          <a:xfrm>
            <a:off x="698500" y="2133600"/>
            <a:ext cx="1320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>
                <a:solidFill>
                  <a:srgbClr val="687CA0"/>
                </a:solidFill>
                <a:latin typeface="Aptos Display" panose="020B0004020202020204" pitchFamily="34" charset="0"/>
              </a:rPr>
              <a:t>Every message is checked before it reaches the other user.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9A0711-3B05-E2F2-B858-1A5F6F4CCF3B}"/>
              </a:ext>
            </a:extLst>
          </p:cNvPr>
          <p:cNvSpPr/>
          <p:nvPr/>
        </p:nvSpPr>
        <p:spPr>
          <a:xfrm>
            <a:off x="698500" y="31115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2BA0E-457A-5961-D25A-033046EABA9C}"/>
              </a:ext>
            </a:extLst>
          </p:cNvPr>
          <p:cNvSpPr/>
          <p:nvPr/>
        </p:nvSpPr>
        <p:spPr>
          <a:xfrm>
            <a:off x="698500" y="31115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2C58C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7632B-20C9-095C-BF54-8B6522EF1F94}"/>
              </a:ext>
            </a:extLst>
          </p:cNvPr>
          <p:cNvSpPr txBox="1"/>
          <p:nvPr/>
        </p:nvSpPr>
        <p:spPr>
          <a:xfrm>
            <a:off x="977900" y="34290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1. AI Pre-check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2E858-80F5-B65D-C9BD-1BD15A6E1EA5}"/>
              </a:ext>
            </a:extLst>
          </p:cNvPr>
          <p:cNvSpPr txBox="1"/>
          <p:nvPr/>
        </p:nvSpPr>
        <p:spPr>
          <a:xfrm>
            <a:off x="977900" y="3937000"/>
            <a:ext cx="3175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Gemini classifies each message as allow, review, or block.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9F4A01-839B-FB88-74D4-DE22C6D54B1E}"/>
              </a:ext>
            </a:extLst>
          </p:cNvPr>
          <p:cNvSpPr/>
          <p:nvPr/>
        </p:nvSpPr>
        <p:spPr>
          <a:xfrm>
            <a:off x="4762500" y="31115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E8E2CF-622A-5736-2E27-78AA42179F7F}"/>
              </a:ext>
            </a:extLst>
          </p:cNvPr>
          <p:cNvSpPr/>
          <p:nvPr/>
        </p:nvSpPr>
        <p:spPr>
          <a:xfrm>
            <a:off x="4762500" y="31115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DC3D4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C4DDA-6504-FA0D-A8D4-836C25736BFE}"/>
              </a:ext>
            </a:extLst>
          </p:cNvPr>
          <p:cNvSpPr txBox="1"/>
          <p:nvPr/>
        </p:nvSpPr>
        <p:spPr>
          <a:xfrm>
            <a:off x="5041900" y="34290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2. Server Shield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E6E67-0FC8-B3D1-D3F9-172459E72839}"/>
              </a:ext>
            </a:extLst>
          </p:cNvPr>
          <p:cNvSpPr txBox="1"/>
          <p:nvPr/>
        </p:nvSpPr>
        <p:spPr>
          <a:xfrm>
            <a:off x="5041900" y="3937000"/>
            <a:ext cx="3175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The server checks again so browser bypass cannot work.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7C1BCE-B1D5-2E7A-93A0-6B6E14B78BAC}"/>
              </a:ext>
            </a:extLst>
          </p:cNvPr>
          <p:cNvSpPr/>
          <p:nvPr/>
        </p:nvSpPr>
        <p:spPr>
          <a:xfrm>
            <a:off x="8826500" y="31115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1C22D-0F55-535C-40B6-A0E64FF6E9CF}"/>
              </a:ext>
            </a:extLst>
          </p:cNvPr>
          <p:cNvSpPr/>
          <p:nvPr/>
        </p:nvSpPr>
        <p:spPr>
          <a:xfrm>
            <a:off x="8826500" y="31115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F59E0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7D9F2-83F5-F546-BBDB-B335C7351112}"/>
              </a:ext>
            </a:extLst>
          </p:cNvPr>
          <p:cNvSpPr txBox="1"/>
          <p:nvPr/>
        </p:nvSpPr>
        <p:spPr>
          <a:xfrm>
            <a:off x="9105900" y="34290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3. Number Split Detection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DC914-6BDC-CBB1-ECF9-25B70059EA3C}"/>
              </a:ext>
            </a:extLst>
          </p:cNvPr>
          <p:cNvSpPr txBox="1"/>
          <p:nvPr/>
        </p:nvSpPr>
        <p:spPr>
          <a:xfrm>
            <a:off x="9105900" y="3937000"/>
            <a:ext cx="3175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It catches contacts split across messages, such as 9655 then 335.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356B9E-7ED4-D797-F6E2-B030FE7E31AE}"/>
              </a:ext>
            </a:extLst>
          </p:cNvPr>
          <p:cNvSpPr/>
          <p:nvPr/>
        </p:nvSpPr>
        <p:spPr>
          <a:xfrm>
            <a:off x="698500" y="5905500"/>
            <a:ext cx="11938000" cy="952500"/>
          </a:xfrm>
          <a:prstGeom prst="roundRect">
            <a:avLst/>
          </a:prstGeom>
          <a:gradFill flip="none" rotWithShape="1">
            <a:gsLst>
              <a:gs pos="0">
                <a:srgbClr val="FFF4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243C2-EA2E-1C47-7A8F-117DA614E175}"/>
              </a:ext>
            </a:extLst>
          </p:cNvPr>
          <p:cNvSpPr txBox="1"/>
          <p:nvPr/>
        </p:nvSpPr>
        <p:spPr>
          <a:xfrm>
            <a:off x="1016000" y="6261100"/>
            <a:ext cx="11176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DC3D4E"/>
                </a:solidFill>
                <a:latin typeface="Aptos Display" panose="020B0004020202020204" pitchFamily="34" charset="0"/>
              </a:rPr>
              <a:t>SuperAdmin Scam Shield Center: alerts, risk scores, repeat offenders, and Suspend / Activate account.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601912-8489-BD52-3AC5-83B4F3A35BF7}"/>
              </a:ext>
            </a:extLst>
          </p:cNvPr>
          <p:cNvSpPr txBox="1"/>
          <p:nvPr/>
        </p:nvSpPr>
        <p:spPr>
          <a:xfrm>
            <a:off x="698500" y="64770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>
                <a:solidFill>
                  <a:srgbClr val="687CA0"/>
                </a:solidFill>
                <a:latin typeface="Aptos Display" panose="020B0004020202020204" pitchFamily="34" charset="0"/>
              </a:rPr>
              <a:t>EscrowPay | Secure. Smart. Somali.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5E39A-4990-2ACA-C0B5-FBD083B808DC}"/>
              </a:ext>
            </a:extLst>
          </p:cNvPr>
          <p:cNvSpPr txBox="1"/>
          <p:nvPr/>
        </p:nvSpPr>
        <p:spPr>
          <a:xfrm>
            <a:off x="11176000" y="6477000"/>
            <a:ext cx="381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 b="1">
                <a:solidFill>
                  <a:srgbClr val="687CA0"/>
                </a:solidFill>
                <a:latin typeface="Aptos Display" panose="020B0004020202020204" pitchFamily="34" charset="0"/>
              </a:rPr>
              <a:t>08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0668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51B2F3-5681-AA9E-1C37-928EDB7A1C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gradFill flip="none" rotWithShape="1">
            <a:gsLst>
              <a:gs pos="0">
                <a:srgbClr val="F4F8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59E9C4-775C-9E4F-168B-7024A1190FF2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84AB3-0765-E2D5-50BA-DC27566BE9E4}"/>
              </a:ext>
            </a:extLst>
          </p:cNvPr>
          <p:cNvSpPr txBox="1"/>
          <p:nvPr/>
        </p:nvSpPr>
        <p:spPr>
          <a:xfrm>
            <a:off x="609600" y="190500"/>
            <a:ext cx="1079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 Display" panose="020B0004020202020204" pitchFamily="34" charset="0"/>
              </a:rPr>
              <a:t>ESCROWPAY | AI-POWERED ESCROW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857BF-EF51-A80E-71CC-A49225EF25C3}"/>
              </a:ext>
            </a:extLst>
          </p:cNvPr>
          <p:cNvSpPr txBox="1"/>
          <p:nvPr/>
        </p:nvSpPr>
        <p:spPr>
          <a:xfrm>
            <a:off x="698500" y="1041400"/>
            <a:ext cx="7620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PHASE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B6EA2-2BCB-BADE-2AC6-C2531273FC02}"/>
              </a:ext>
            </a:extLst>
          </p:cNvPr>
          <p:cNvSpPr txBox="1"/>
          <p:nvPr/>
        </p:nvSpPr>
        <p:spPr>
          <a:xfrm>
            <a:off x="698500" y="1422400"/>
            <a:ext cx="13462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800" b="1">
                <a:solidFill>
                  <a:srgbClr val="172644"/>
                </a:solidFill>
                <a:latin typeface="Aptos Display" panose="020B0004020202020204" pitchFamily="34" charset="0"/>
              </a:rPr>
              <a:t>Smart Delivery Matching and Trust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480C2-B5E5-850F-FD94-6D7E8331723E}"/>
              </a:ext>
            </a:extLst>
          </p:cNvPr>
          <p:cNvSpPr txBox="1"/>
          <p:nvPr/>
        </p:nvSpPr>
        <p:spPr>
          <a:xfrm>
            <a:off x="698500" y="2133600"/>
            <a:ext cx="1320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>
                <a:solidFill>
                  <a:srgbClr val="687CA0"/>
                </a:solidFill>
                <a:latin typeface="Aptos Display" panose="020B0004020202020204" pitchFamily="34" charset="0"/>
              </a:rPr>
              <a:t>The platform selects the best driver using transparent delivery intelligence.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C2F994-54EE-AD1B-A2A1-ABB7F3A3E1BC}"/>
              </a:ext>
            </a:extLst>
          </p:cNvPr>
          <p:cNvSpPr/>
          <p:nvPr/>
        </p:nvSpPr>
        <p:spPr>
          <a:xfrm>
            <a:off x="698500" y="2921000"/>
            <a:ext cx="4445000" cy="36830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EF06C-21D0-E26D-D666-515FFAE906C6}"/>
              </a:ext>
            </a:extLst>
          </p:cNvPr>
          <p:cNvSpPr txBox="1"/>
          <p:nvPr/>
        </p:nvSpPr>
        <p:spPr>
          <a:xfrm>
            <a:off x="1016000" y="3302000"/>
            <a:ext cx="3175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MATCHING ENGINE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BFB25-718E-074E-91AD-CD83E0B98B3B}"/>
              </a:ext>
            </a:extLst>
          </p:cNvPr>
          <p:cNvSpPr txBox="1"/>
          <p:nvPr/>
        </p:nvSpPr>
        <p:spPr>
          <a:xfrm>
            <a:off x="1016000" y="3759200"/>
            <a:ext cx="3683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200" b="1">
                <a:solidFill>
                  <a:srgbClr val="FFFFFF"/>
                </a:solidFill>
                <a:latin typeface="Aptos Display" panose="020B0004020202020204" pitchFamily="34" charset="0"/>
              </a:rPr>
              <a:t>GPS + Availability + Trust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F6C97-EF0A-CE9A-7F10-41AB2858AFEE}"/>
              </a:ext>
            </a:extLst>
          </p:cNvPr>
          <p:cNvSpPr txBox="1"/>
          <p:nvPr/>
        </p:nvSpPr>
        <p:spPr>
          <a:xfrm>
            <a:off x="1016000" y="4699000"/>
            <a:ext cx="3556000" cy="6463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>
                <a:solidFill>
                  <a:srgbClr val="FFFFFF"/>
                </a:solidFill>
                <a:latin typeface="Aptos Display" panose="020B0004020202020204" pitchFamily="34" charset="0"/>
              </a:rPr>
              <a:t>Buyer: live drop-off location</a:t>
            </a:r>
          </a:p>
          <a:p>
            <a:r>
              <a:rPr lang="en-GB" sz="1300">
                <a:solidFill>
                  <a:srgbClr val="FFFFFF"/>
                </a:solidFill>
                <a:latin typeface="Aptos Display" panose="020B0004020202020204" pitchFamily="34" charset="0"/>
              </a:rPr>
              <a:t>Driver: available + location</a:t>
            </a:r>
          </a:p>
          <a:p>
            <a:r>
              <a:rPr lang="en-GB" sz="1300">
                <a:solidFill>
                  <a:srgbClr val="FFFFFF"/>
                </a:solidFill>
                <a:latin typeface="Aptos Display" panose="020B0004020202020204" pitchFamily="34" charset="0"/>
              </a:rPr>
              <a:t>System: nearest, safest, least busy driver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0A8570-2B9F-7ABF-1EB3-180F76D65A0C}"/>
              </a:ext>
            </a:extLst>
          </p:cNvPr>
          <p:cNvSpPr/>
          <p:nvPr/>
        </p:nvSpPr>
        <p:spPr>
          <a:xfrm>
            <a:off x="5588000" y="29210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60B817-5C0F-50DA-0A17-6E707F4E7B70}"/>
              </a:ext>
            </a:extLst>
          </p:cNvPr>
          <p:cNvSpPr/>
          <p:nvPr/>
        </p:nvSpPr>
        <p:spPr>
          <a:xfrm>
            <a:off x="5588000" y="29210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2C58C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DB9A7C-23F4-97D1-6F37-C7BAA4F2C4F2}"/>
              </a:ext>
            </a:extLst>
          </p:cNvPr>
          <p:cNvSpPr txBox="1"/>
          <p:nvPr/>
        </p:nvSpPr>
        <p:spPr>
          <a:xfrm>
            <a:off x="5867400" y="32385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Distance and Location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4B3DA-FA06-BED8-FE4A-C9A73A30053D}"/>
              </a:ext>
            </a:extLst>
          </p:cNvPr>
          <p:cNvSpPr txBox="1"/>
          <p:nvPr/>
        </p:nvSpPr>
        <p:spPr>
          <a:xfrm>
            <a:off x="5867400" y="3746500"/>
            <a:ext cx="3175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GPS distance first; address matching is the fallback.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E789C0-645E-402B-08D8-26A3F6EC82A6}"/>
              </a:ext>
            </a:extLst>
          </p:cNvPr>
          <p:cNvSpPr/>
          <p:nvPr/>
        </p:nvSpPr>
        <p:spPr>
          <a:xfrm>
            <a:off x="5588000" y="48260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8012E7-306F-0977-E50E-37ACDCB83BC6}"/>
              </a:ext>
            </a:extLst>
          </p:cNvPr>
          <p:cNvSpPr/>
          <p:nvPr/>
        </p:nvSpPr>
        <p:spPr>
          <a:xfrm>
            <a:off x="5588000" y="48260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10C87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C1521A-7F2D-BAFE-CFBB-02F2DDEF8C3C}"/>
              </a:ext>
            </a:extLst>
          </p:cNvPr>
          <p:cNvSpPr txBox="1"/>
          <p:nvPr/>
        </p:nvSpPr>
        <p:spPr>
          <a:xfrm>
            <a:off x="5867400" y="51435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Workload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F4D6E-58F1-80C9-599B-631ABBE5AE3F}"/>
              </a:ext>
            </a:extLst>
          </p:cNvPr>
          <p:cNvSpPr txBox="1"/>
          <p:nvPr/>
        </p:nvSpPr>
        <p:spPr>
          <a:xfrm>
            <a:off x="5867400" y="5651500"/>
            <a:ext cx="3175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Offline or already busy drivers are not prioritised.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DD773F-8E90-5B16-BE99-7B3A07F7FD86}"/>
              </a:ext>
            </a:extLst>
          </p:cNvPr>
          <p:cNvSpPr/>
          <p:nvPr/>
        </p:nvSpPr>
        <p:spPr>
          <a:xfrm>
            <a:off x="9652000" y="29210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638E45-2B5E-2DFD-48BC-B7B96A06858C}"/>
              </a:ext>
            </a:extLst>
          </p:cNvPr>
          <p:cNvSpPr/>
          <p:nvPr/>
        </p:nvSpPr>
        <p:spPr>
          <a:xfrm>
            <a:off x="9652000" y="29210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F59E0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FF1FA-B090-BFD8-4EDF-C8EEED15E03B}"/>
              </a:ext>
            </a:extLst>
          </p:cNvPr>
          <p:cNvSpPr txBox="1"/>
          <p:nvPr/>
        </p:nvSpPr>
        <p:spPr>
          <a:xfrm>
            <a:off x="9931400" y="32385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Trust Score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275767-B9E2-6B64-2476-B29D83115335}"/>
              </a:ext>
            </a:extLst>
          </p:cNvPr>
          <p:cNvSpPr txBox="1"/>
          <p:nvPr/>
        </p:nvSpPr>
        <p:spPr>
          <a:xfrm>
            <a:off x="9931400" y="3746500"/>
            <a:ext cx="3175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Completion rate, delivery history, and scam flags.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32E65D3-E21F-5146-3C66-FC34083A7AC1}"/>
              </a:ext>
            </a:extLst>
          </p:cNvPr>
          <p:cNvSpPr/>
          <p:nvPr/>
        </p:nvSpPr>
        <p:spPr>
          <a:xfrm>
            <a:off x="9652000" y="4826000"/>
            <a:ext cx="3810000" cy="22225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EB8729-A0DC-CB34-1072-AD24AB092BFD}"/>
              </a:ext>
            </a:extLst>
          </p:cNvPr>
          <p:cNvSpPr/>
          <p:nvPr/>
        </p:nvSpPr>
        <p:spPr>
          <a:xfrm>
            <a:off x="9652000" y="4826000"/>
            <a:ext cx="88900" cy="2222500"/>
          </a:xfrm>
          <a:prstGeom prst="rect">
            <a:avLst/>
          </a:prstGeom>
          <a:gradFill flip="none" rotWithShape="1">
            <a:gsLst>
              <a:gs pos="0">
                <a:srgbClr val="DC3D4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0E4F1-3E94-6A95-2CE3-5FFB9A1D7C34}"/>
              </a:ext>
            </a:extLst>
          </p:cNvPr>
          <p:cNvSpPr txBox="1"/>
          <p:nvPr/>
        </p:nvSpPr>
        <p:spPr>
          <a:xfrm>
            <a:off x="9931400" y="5143500"/>
            <a:ext cx="3175000" cy="29238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00" b="1">
                <a:solidFill>
                  <a:srgbClr val="172644"/>
                </a:solidFill>
                <a:latin typeface="Aptos Display" panose="020B0004020202020204" pitchFamily="34" charset="0"/>
              </a:rPr>
              <a:t>Trust Badges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933A5E-7BC9-BDE8-8764-14FF33EF0954}"/>
              </a:ext>
            </a:extLst>
          </p:cNvPr>
          <p:cNvSpPr txBox="1"/>
          <p:nvPr/>
        </p:nvSpPr>
        <p:spPr>
          <a:xfrm>
            <a:off x="9931400" y="5651500"/>
            <a:ext cx="3175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687CA0"/>
                </a:solidFill>
                <a:latin typeface="Aptos Display" panose="020B0004020202020204" pitchFamily="34" charset="0"/>
              </a:rPr>
              <a:t>Trusted Pro, Reliable, Building Trust, Needs Review.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16977-1638-3136-4749-3CCCCF35F0C8}"/>
              </a:ext>
            </a:extLst>
          </p:cNvPr>
          <p:cNvSpPr txBox="1"/>
          <p:nvPr/>
        </p:nvSpPr>
        <p:spPr>
          <a:xfrm>
            <a:off x="698500" y="64770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>
                <a:solidFill>
                  <a:srgbClr val="687CA0"/>
                </a:solidFill>
                <a:latin typeface="Aptos Display" panose="020B0004020202020204" pitchFamily="34" charset="0"/>
              </a:rPr>
              <a:t>EscrowPay | Secure. Smart. Somali.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6A688F-A897-BE6D-51F1-B580A0883CCA}"/>
              </a:ext>
            </a:extLst>
          </p:cNvPr>
          <p:cNvSpPr txBox="1"/>
          <p:nvPr/>
        </p:nvSpPr>
        <p:spPr>
          <a:xfrm>
            <a:off x="11176000" y="6477000"/>
            <a:ext cx="381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 b="1">
                <a:solidFill>
                  <a:srgbClr val="687CA0"/>
                </a:solidFill>
                <a:latin typeface="Aptos Display" panose="020B0004020202020204" pitchFamily="34" charset="0"/>
              </a:rPr>
              <a:t>09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5177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B9DC0D-6586-642C-44C0-1B31AB6224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38B3C0-1170-6B40-27BC-B7BC1FD6B13E}"/>
              </a:ext>
            </a:extLst>
          </p:cNvPr>
          <p:cNvSpPr/>
          <p:nvPr/>
        </p:nvSpPr>
        <p:spPr>
          <a:xfrm>
            <a:off x="0" y="0"/>
            <a:ext cx="12192000" cy="6985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673D3-1A1A-9137-69F1-3D79CE52E9F2}"/>
              </a:ext>
            </a:extLst>
          </p:cNvPr>
          <p:cNvSpPr txBox="1"/>
          <p:nvPr/>
        </p:nvSpPr>
        <p:spPr>
          <a:xfrm>
            <a:off x="609600" y="190500"/>
            <a:ext cx="10795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 Display" panose="020B0004020202020204" pitchFamily="34" charset="0"/>
              </a:rPr>
              <a:t>ESCROWPAY | AI-POWERED ESCROW MARKETPLACE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0F2E0-D8A0-A0C8-D75A-87BA941833A1}"/>
              </a:ext>
            </a:extLst>
          </p:cNvPr>
          <p:cNvSpPr txBox="1"/>
          <p:nvPr/>
        </p:nvSpPr>
        <p:spPr>
          <a:xfrm>
            <a:off x="698500" y="1041400"/>
            <a:ext cx="7620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LIVE DEMO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82157-94F6-58E6-EEA9-95A9B11384DC}"/>
              </a:ext>
            </a:extLst>
          </p:cNvPr>
          <p:cNvSpPr txBox="1"/>
          <p:nvPr/>
        </p:nvSpPr>
        <p:spPr>
          <a:xfrm>
            <a:off x="698500" y="1422400"/>
            <a:ext cx="13462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800" b="1">
                <a:solidFill>
                  <a:srgbClr val="172644"/>
                </a:solidFill>
                <a:latin typeface="Aptos Display" panose="020B0004020202020204" pitchFamily="34" charset="0"/>
              </a:rPr>
              <a:t>One journey. Five AI moments.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6BA28-8769-B1E3-E910-4DC96CD3DD21}"/>
              </a:ext>
            </a:extLst>
          </p:cNvPr>
          <p:cNvSpPr txBox="1"/>
          <p:nvPr/>
        </p:nvSpPr>
        <p:spPr>
          <a:xfrm>
            <a:off x="698500" y="2133600"/>
            <a:ext cx="13208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>
                <a:solidFill>
                  <a:srgbClr val="687CA0"/>
                </a:solidFill>
                <a:latin typeface="Aptos Display" panose="020B0004020202020204" pitchFamily="34" charset="0"/>
              </a:rPr>
              <a:t>A polished walkthrough for judges, partners, and customers.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959D63-EEDD-F06C-7F1F-EDAFC086289A}"/>
              </a:ext>
            </a:extLst>
          </p:cNvPr>
          <p:cNvSpPr/>
          <p:nvPr/>
        </p:nvSpPr>
        <p:spPr>
          <a:xfrm>
            <a:off x="825500" y="28575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2C58C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26D03-5A5A-0DF0-9706-6618E73A9359}"/>
              </a:ext>
            </a:extLst>
          </p:cNvPr>
          <p:cNvSpPr txBox="1"/>
          <p:nvPr/>
        </p:nvSpPr>
        <p:spPr>
          <a:xfrm>
            <a:off x="1003300" y="29337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08BE9-C513-F9B3-D3A5-8704D3AE37C0}"/>
              </a:ext>
            </a:extLst>
          </p:cNvPr>
          <p:cNvSpPr txBox="1"/>
          <p:nvPr/>
        </p:nvSpPr>
        <p:spPr>
          <a:xfrm>
            <a:off x="1587500" y="29210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Seller uploads a product photo - AI creates listing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2660DF-D727-D1F2-3654-A68FF403661A}"/>
              </a:ext>
            </a:extLst>
          </p:cNvPr>
          <p:cNvSpPr/>
          <p:nvPr/>
        </p:nvSpPr>
        <p:spPr>
          <a:xfrm>
            <a:off x="825500" y="34671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2C58C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837EC-B43C-5A47-C06C-3EEC4F02948B}"/>
              </a:ext>
            </a:extLst>
          </p:cNvPr>
          <p:cNvSpPr txBox="1"/>
          <p:nvPr/>
        </p:nvSpPr>
        <p:spPr>
          <a:xfrm>
            <a:off x="1003300" y="35433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DD5E5-85BF-660D-757E-2DB3807F679F}"/>
              </a:ext>
            </a:extLst>
          </p:cNvPr>
          <p:cNvSpPr txBox="1"/>
          <p:nvPr/>
        </p:nvSpPr>
        <p:spPr>
          <a:xfrm>
            <a:off x="1587500" y="35306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Buyer uses Somali voice search - AI recommends products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75870-BE91-02F7-DEBA-C279649793C1}"/>
              </a:ext>
            </a:extLst>
          </p:cNvPr>
          <p:cNvSpPr/>
          <p:nvPr/>
        </p:nvSpPr>
        <p:spPr>
          <a:xfrm>
            <a:off x="825500" y="40767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2C58C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853D25-8C8A-D747-BEAC-D6F739C753B0}"/>
              </a:ext>
            </a:extLst>
          </p:cNvPr>
          <p:cNvSpPr txBox="1"/>
          <p:nvPr/>
        </p:nvSpPr>
        <p:spPr>
          <a:xfrm>
            <a:off x="1003300" y="41529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F5DCA-4A74-01FB-B239-13916F42BB2D}"/>
              </a:ext>
            </a:extLst>
          </p:cNvPr>
          <p:cNvSpPr txBox="1"/>
          <p:nvPr/>
        </p:nvSpPr>
        <p:spPr>
          <a:xfrm>
            <a:off x="1587500" y="41402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Scam message is sent - AI blocks and logs the attempt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AC4103-CBF8-0323-5DC9-90B037C2A702}"/>
              </a:ext>
            </a:extLst>
          </p:cNvPr>
          <p:cNvSpPr/>
          <p:nvPr/>
        </p:nvSpPr>
        <p:spPr>
          <a:xfrm>
            <a:off x="825500" y="46863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10C87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C1B0BD-52C6-B862-185F-0012107B1324}"/>
              </a:ext>
            </a:extLst>
          </p:cNvPr>
          <p:cNvSpPr txBox="1"/>
          <p:nvPr/>
        </p:nvSpPr>
        <p:spPr>
          <a:xfrm>
            <a:off x="1003300" y="47625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5C76F1-3879-5B91-223C-18D18816ED81}"/>
              </a:ext>
            </a:extLst>
          </p:cNvPr>
          <p:cNvSpPr txBox="1"/>
          <p:nvPr/>
        </p:nvSpPr>
        <p:spPr>
          <a:xfrm>
            <a:off x="1587500" y="47498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Buyer checks out with live location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AD1AFC-4D1A-20B2-9607-C250427641EB}"/>
              </a:ext>
            </a:extLst>
          </p:cNvPr>
          <p:cNvSpPr/>
          <p:nvPr/>
        </p:nvSpPr>
        <p:spPr>
          <a:xfrm>
            <a:off x="825500" y="52959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10C87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1497B0-4CA4-1FF6-8A1E-DB3BECB781C9}"/>
              </a:ext>
            </a:extLst>
          </p:cNvPr>
          <p:cNvSpPr txBox="1"/>
          <p:nvPr/>
        </p:nvSpPr>
        <p:spPr>
          <a:xfrm>
            <a:off x="1003300" y="53721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A9229D-EFA4-0A61-7E21-642B10A7FCC2}"/>
              </a:ext>
            </a:extLst>
          </p:cNvPr>
          <p:cNvSpPr txBox="1"/>
          <p:nvPr/>
        </p:nvSpPr>
        <p:spPr>
          <a:xfrm>
            <a:off x="1587500" y="53594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Driver updates availability - AI selects best match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6CF080-2C43-3ACD-3DE6-99B4D28F8712}"/>
              </a:ext>
            </a:extLst>
          </p:cNvPr>
          <p:cNvSpPr/>
          <p:nvPr/>
        </p:nvSpPr>
        <p:spPr>
          <a:xfrm>
            <a:off x="825500" y="5905500"/>
            <a:ext cx="482600" cy="381000"/>
          </a:xfrm>
          <a:prstGeom prst="roundRect">
            <a:avLst/>
          </a:prstGeom>
          <a:gradFill flip="none" rotWithShape="1">
            <a:gsLst>
              <a:gs pos="0">
                <a:srgbClr val="10C87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91D087-9781-B383-534F-76118778138C}"/>
              </a:ext>
            </a:extLst>
          </p:cNvPr>
          <p:cNvSpPr txBox="1"/>
          <p:nvPr/>
        </p:nvSpPr>
        <p:spPr>
          <a:xfrm>
            <a:off x="1003300" y="5981700"/>
            <a:ext cx="152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 Display" panose="020B0004020202020204" pitchFamily="34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C41D5C-7385-298A-CB59-5C592E3A200C}"/>
              </a:ext>
            </a:extLst>
          </p:cNvPr>
          <p:cNvSpPr txBox="1"/>
          <p:nvPr/>
        </p:nvSpPr>
        <p:spPr>
          <a:xfrm>
            <a:off x="1587500" y="5969000"/>
            <a:ext cx="7747000" cy="26161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400" b="1">
                <a:solidFill>
                  <a:srgbClr val="172644"/>
                </a:solidFill>
                <a:latin typeface="Aptos Display" panose="020B0004020202020204" pitchFamily="34" charset="0"/>
              </a:rPr>
              <a:t>Admin reviews Scam Shield alerts or AI dispute verdict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67885C-62DA-7764-C6E8-68E43FEE2CF7}"/>
              </a:ext>
            </a:extLst>
          </p:cNvPr>
          <p:cNvSpPr/>
          <p:nvPr/>
        </p:nvSpPr>
        <p:spPr>
          <a:xfrm>
            <a:off x="9652000" y="2921000"/>
            <a:ext cx="3238500" cy="3429000"/>
          </a:xfrm>
          <a:prstGeom prst="roundRect">
            <a:avLst/>
          </a:prstGeom>
          <a:gradFill flip="none" rotWithShape="1">
            <a:gsLst>
              <a:gs pos="0">
                <a:srgbClr val="1D3B8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95835-90A1-DDB8-CA2E-C9395479A71E}"/>
              </a:ext>
            </a:extLst>
          </p:cNvPr>
          <p:cNvSpPr txBox="1"/>
          <p:nvPr/>
        </p:nvSpPr>
        <p:spPr>
          <a:xfrm>
            <a:off x="10033000" y="3378200"/>
            <a:ext cx="2032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300" b="1">
                <a:solidFill>
                  <a:srgbClr val="10C87B"/>
                </a:solidFill>
                <a:latin typeface="Aptos Display" panose="020B0004020202020204" pitchFamily="34" charset="0"/>
              </a:rPr>
              <a:t>OUTCOME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8A71B4-2789-026F-84F3-B36769528F60}"/>
              </a:ext>
            </a:extLst>
          </p:cNvPr>
          <p:cNvSpPr txBox="1"/>
          <p:nvPr/>
        </p:nvSpPr>
        <p:spPr>
          <a:xfrm>
            <a:off x="10033000" y="3898900"/>
            <a:ext cx="2413000" cy="110799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2300" b="1">
                <a:solidFill>
                  <a:srgbClr val="FFFFFF"/>
                </a:solidFill>
                <a:latin typeface="Aptos Display" panose="020B0004020202020204" pitchFamily="34" charset="0"/>
              </a:rPr>
              <a:t>A safer, faster, smarter Somali marketplace.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69647E-5273-E869-07B0-3A87BF664057}"/>
              </a:ext>
            </a:extLst>
          </p:cNvPr>
          <p:cNvSpPr txBox="1"/>
          <p:nvPr/>
        </p:nvSpPr>
        <p:spPr>
          <a:xfrm>
            <a:off x="10033000" y="5651500"/>
            <a:ext cx="22860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200">
                <a:solidFill>
                  <a:srgbClr val="FFFFFF"/>
                </a:solidFill>
                <a:latin typeface="Aptos Display" panose="020B0004020202020204" pitchFamily="34" charset="0"/>
              </a:rPr>
              <a:t>AI + Escrow + Delivery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0B6F54-328C-2C33-0400-7B58A77BC397}"/>
              </a:ext>
            </a:extLst>
          </p:cNvPr>
          <p:cNvSpPr txBox="1"/>
          <p:nvPr/>
        </p:nvSpPr>
        <p:spPr>
          <a:xfrm>
            <a:off x="698500" y="6477000"/>
            <a:ext cx="6350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>
                <a:solidFill>
                  <a:srgbClr val="687CA0"/>
                </a:solidFill>
                <a:latin typeface="Aptos Display" panose="020B0004020202020204" pitchFamily="34" charset="0"/>
              </a:rPr>
              <a:t>EscrowPay | Secure. Smart. Somali.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C86CAB-0DE9-636A-AAAC-F3025EDD5025}"/>
              </a:ext>
            </a:extLst>
          </p:cNvPr>
          <p:cNvSpPr txBox="1"/>
          <p:nvPr/>
        </p:nvSpPr>
        <p:spPr>
          <a:xfrm>
            <a:off x="11176000" y="6477000"/>
            <a:ext cx="381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000" b="1">
                <a:solidFill>
                  <a:srgbClr val="687CA0"/>
                </a:solidFill>
                <a:latin typeface="Aptos Display" panose="020B0004020202020204" pitchFamily="34" charset="0"/>
              </a:rPr>
              <a:t>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47640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ERATED" val="ai20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ERATED" val="ai20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ERATED" val="ai20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ERATED" val="ai20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913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 Display</vt:lpstr>
      <vt:lpstr>Arial</vt:lpstr>
      <vt:lpstr>Calibri</vt:lpstr>
      <vt:lpstr>Inter</vt:lpstr>
      <vt:lpstr>Inter ExtraBold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Abdirahman maxamad</cp:lastModifiedBy>
  <cp:revision>3</cp:revision>
  <dcterms:created xsi:type="dcterms:W3CDTF">2013-01-27T09:14:16Z</dcterms:created>
  <dcterms:modified xsi:type="dcterms:W3CDTF">2026-08-31T03:16:47Z</dcterms:modified>
  <cp:category/>
</cp:coreProperties>
</file>